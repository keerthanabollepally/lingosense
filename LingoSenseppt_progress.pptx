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61" r:id="rId3"/>
    <p:sldId id="262" r:id="rId4"/>
    <p:sldId id="263" r:id="rId5"/>
    <p:sldId id="269" r:id="rId6"/>
    <p:sldId id="264" r:id="rId7"/>
    <p:sldId id="265" r:id="rId8"/>
    <p:sldId id="266" r:id="rId9"/>
    <p:sldId id="272" r:id="rId10"/>
    <p:sldId id="267" r:id="rId11"/>
    <p:sldId id="273" r:id="rId12"/>
    <p:sldId id="268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C8E43B-A5E9-4C93-A451-0CE622610BC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FB8FE-0CF1-4EC7-B9CD-F9316BFD96AB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ED2A-40E1-4BFF-B85B-7620C9AF9DBF}" type="datetime1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3E607-6BFE-49CC-9E76-559304519293}" type="datetime1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B4FA-F0D0-4A51-BFF4-6207681086DD}" type="datetime1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486AE-5A2C-46CE-B2D4-B5237CB87261}" type="datetime1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58CE9-983F-439E-B0B7-565BF8A32656}" type="datetime1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34CBD-DF33-487A-8CE5-578967B31739}" type="datetime1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28F6-1AAA-460A-8217-4AAB41DC8775}" type="datetime1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7ACF7-E24D-44E6-9B15-04BBB5069298}" type="datetime1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68D9C-390E-4B2B-B9A7-221E83BFE6C6}" type="datetime1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FC04F-448F-4CB0-BF77-AD430355BD64}" type="datetime1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10963-6249-4D30-A484-F2E0CD9AE4EF}" type="datetime1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7ADEC-B4B4-40C0-97FE-0C7AE9EC73BC}" type="datetime1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36EB5-AB8D-4490-841F-9D4421CD4F4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IN" sz="7200" b="1" dirty="0" err="1">
                <a:latin typeface="Times New Roman" panose="02020603050405020304" charset="0"/>
                <a:cs typeface="Times New Roman" panose="02020603050405020304" charset="0"/>
              </a:rPr>
              <a:t>LingoSense</a:t>
            </a:r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7180" y="3428683"/>
            <a:ext cx="9144000" cy="1655762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charset="0"/>
                <a:cs typeface="Times New Roman" panose="02020603050405020304" charset="0"/>
              </a:rPr>
              <a:t>AI for Translating Colloquial Languages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1</a:t>
            </a:fld>
            <a:endParaRPr lang="en-IN"/>
          </a:p>
        </p:txBody>
      </p:sp>
      <p:sp>
        <p:nvSpPr>
          <p:cNvPr id="6" name="Text Box 5"/>
          <p:cNvSpPr txBox="1"/>
          <p:nvPr/>
        </p:nvSpPr>
        <p:spPr>
          <a:xfrm>
            <a:off x="6950075" y="5157470"/>
            <a:ext cx="4403725" cy="1198880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l"/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</a:rPr>
              <a:t>JUNIOR SCHOLOR’S :</a:t>
            </a:r>
          </a:p>
          <a:p>
            <a:pPr algn="l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Keerthana Bollepally         -    22WU0104028</a:t>
            </a:r>
          </a:p>
          <a:p>
            <a:pPr algn="l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Alaka Asritha Ghantasala  -   22WU0104129</a:t>
            </a:r>
          </a:p>
          <a:p>
            <a:pPr algn="l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Kamal Sai Cherukuri         -   22WU0104030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298450" y="5349875"/>
            <a:ext cx="2918460" cy="754380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lstStyle/>
          <a:p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</a:rPr>
              <a:t>SUPERVISOR :</a:t>
            </a:r>
          </a:p>
          <a:p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DR.UDAY CHANDRA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813" y="0"/>
            <a:ext cx="2050113" cy="123594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758" y="207294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INTRODUCTION </a:t>
            </a:r>
            <a:r>
              <a:rPr lang="en-IN" sz="6000" b="1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505460" y="1446530"/>
            <a:ext cx="10305415" cy="51695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Language is the backbone of human communication.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Current AI translation systems struggle with informal, colloquial, and culturally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nuanced expressions.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In India, hundreds of dialects and code-mixed conversations exist across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regions.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People often use slang, idioms, and transliterations on social media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and casual chats.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Bridging this communication gap is essential for building inclusive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AI-powered platforms.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This project aims to create a multilingual colloquial AI system that: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                      - Translates informal and colloquial conversations.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                      - Understands cultural context and sentiment.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                      - Preserves the essence of everyday communication.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2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813" y="0"/>
            <a:ext cx="2050113" cy="123594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16" y="387434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PROJECT OBJECTIVES: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85140" y="1872298"/>
            <a:ext cx="10524490" cy="39693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To develop an AI system capable of understanding and translating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colloquial, informal conversations across Indian languages (Hindi,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Bengali, Marathi, Telugu, Malayalam, Tamil).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To detect slang, idioms, and code-mixed text while preserving cultural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and contextual nuances.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To implement sentiment analysis for informal text and optionally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integrate speech-based input/output for natural interactions.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3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813" y="0"/>
            <a:ext cx="2050113" cy="123594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894" y="403476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PROBLEM STATEMENT: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825625"/>
            <a:ext cx="10759440" cy="4264025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Existing translation tools such as Google Translate and Microsoft Translator primarily focus on formal and structured text, often failing in the context of casual, colloquial, or code-mixed Indian language usage. </a:t>
            </a:r>
          </a:p>
          <a:p>
            <a:pPr algn="just"/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Challenges include:</a:t>
            </a:r>
          </a:p>
          <a:p>
            <a:pPr algn="just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Handling slang, idioms, and informal phrases.</a:t>
            </a:r>
          </a:p>
          <a:p>
            <a:pPr algn="just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Transliteration issues (e.g., Hindi in Roman script).</a:t>
            </a:r>
          </a:p>
          <a:p>
            <a:pPr algn="just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Code-mixed text (English + regional language).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This creates a significant gap in making AI truly conversational for       real-world, informal communication.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4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813" y="0"/>
            <a:ext cx="2050113" cy="123594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85" y="399968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NOVELTY </a:t>
            </a:r>
            <a:r>
              <a:rPr lang="en-IN" sz="6000" b="1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89255" y="1863408"/>
            <a:ext cx="10386695" cy="35382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Creation of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colloquial, slang-annotated dataset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for Indian languages.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Fine-tuning transformer models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Facebook M2M-100</a:t>
            </a:r>
            <a:r>
              <a:rPr lang="en-I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,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RudraHsha</a:t>
            </a:r>
            <a:r>
              <a:rPr lang="en-I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specifically on informal and code-mixed 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Integration of sentiment analysis + speech features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into translation,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making the system conversational and more natural.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5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813" y="0"/>
            <a:ext cx="2050113" cy="123594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810" y="276811"/>
            <a:ext cx="10515600" cy="1325563"/>
          </a:xfrm>
        </p:spPr>
        <p:txBody>
          <a:bodyPr>
            <a:noAutofit/>
          </a:bodyPr>
          <a:lstStyle/>
          <a:p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LITERATURE REVIEW / EXISTINGWORK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" y="1825625"/>
            <a:ext cx="10835640" cy="435133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Existing Work:</a:t>
            </a:r>
            <a:br>
              <a:rPr lang="en-US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Widely used translation systems such as Google Translate and </a:t>
            </a:r>
            <a:r>
              <a:rPr lang="en-US" dirty="0" err="1">
                <a:latin typeface="Times New Roman" panose="02020603050405020304" charset="0"/>
                <a:cs typeface="Times New Roman" panose="02020603050405020304" charset="0"/>
              </a:rPr>
              <a:t>DeepL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 perform well for 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formal text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 (e.g., news articles, Wikipedia, parliamentary text). Prior NLP research in Indian languages has also mainly concentrated on these structured datasets.</a:t>
            </a:r>
          </a:p>
          <a:p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Gap Identified:</a:t>
            </a:r>
            <a:br>
              <a:rPr lang="en-US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However, 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informal and colloquial communication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—such as social media posts, chats, or forum discussions—remains less explored. These often include 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slang, idioms, transliterated words, and code-mixed text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, which existing tools do not fully capture.</a:t>
            </a:r>
          </a:p>
          <a:p>
            <a:endParaRPr lang="en-IN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813" y="0"/>
            <a:ext cx="2050113" cy="123594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174" y="206342"/>
            <a:ext cx="10515600" cy="1325563"/>
          </a:xfrm>
        </p:spPr>
        <p:txBody>
          <a:bodyPr>
            <a:normAutofit/>
          </a:bodyPr>
          <a:lstStyle/>
          <a:p>
            <a:r>
              <a:rPr lang="en-IN" sz="4890" b="1" dirty="0">
                <a:latin typeface="Times New Roman" panose="02020603050405020304" charset="0"/>
                <a:cs typeface="Times New Roman" panose="02020603050405020304" charset="0"/>
              </a:rPr>
              <a:t>PROPOSED METHODOLOGY </a:t>
            </a:r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98" y="2004813"/>
            <a:ext cx="10954501" cy="4106427"/>
          </a:xfrm>
          <a:prstGeom prst="rect">
            <a:avLst/>
          </a:prstGeom>
        </p:spPr>
      </p:pic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7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813" y="0"/>
            <a:ext cx="2050113" cy="123594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590" y="387434"/>
            <a:ext cx="10515600" cy="1325563"/>
          </a:xfrm>
        </p:spPr>
        <p:txBody>
          <a:bodyPr>
            <a:normAutofit/>
          </a:bodyPr>
          <a:lstStyle/>
          <a:p>
            <a:r>
              <a:rPr lang="en-IN" sz="4890" b="1" dirty="0">
                <a:latin typeface="Times New Roman" panose="02020603050405020304" charset="0"/>
                <a:cs typeface="Times New Roman" panose="02020603050405020304" charset="0"/>
              </a:rPr>
              <a:t>TOOLS / TECHNOLOGIES USED: 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07670" y="2242769"/>
            <a:ext cx="10698480" cy="31076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Programming &amp; Frameworks: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Python, Flask/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FastAPI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Machine Learning / NLP: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PyTorch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, TensorFlow,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HuggingFace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Transformers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mBART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MarianMT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Data Collection: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BeautifulSoup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, Scrapy (for web scraping)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Experimentation: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Google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Colab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Jupyter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Notebooks.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Frontend: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HTML, CSS, JavaScript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Deployment: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Heroku, AWS, GCP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8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813" y="0"/>
            <a:ext cx="2050113" cy="123594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005" y="237490"/>
            <a:ext cx="10515600" cy="1325563"/>
          </a:xfrm>
        </p:spPr>
        <p:txBody>
          <a:bodyPr/>
          <a:lstStyle/>
          <a:p>
            <a:r>
              <a:rPr lang="en-IN" altLang="en-US" sz="4800" b="1">
                <a:latin typeface="Times New Roman" panose="02020603050405020304" charset="0"/>
                <a:cs typeface="Times New Roman" panose="02020603050405020304" charset="0"/>
              </a:rPr>
              <a:t>INITIAL STAGE 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9</a:t>
            </a:fld>
            <a:endParaRPr lang="en-IN"/>
          </a:p>
        </p:txBody>
      </p:sp>
      <p:sp>
        <p:nvSpPr>
          <p:cNvPr id="5" name="Text Box 4"/>
          <p:cNvSpPr txBox="1"/>
          <p:nvPr/>
        </p:nvSpPr>
        <p:spPr>
          <a:xfrm>
            <a:off x="417195" y="1839595"/>
            <a:ext cx="10269220" cy="48729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07670" y="1499870"/>
            <a:ext cx="11313795" cy="509587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sz="2800" b="1" dirty="0">
                <a:latin typeface="Times New Roman" panose="02020603050405020304" charset="0"/>
                <a:cs typeface="Times New Roman" panose="02020603050405020304" charset="0"/>
              </a:rPr>
              <a:t>Data Collection: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Scraped formal text from multiple websites for six Indian languages: Hindi, Telugu, Tamil, Marathi, Bengali, Malayalam.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Focused on structured, high-quality content (news, articles, Wikipedia).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800" b="1" dirty="0">
                <a:latin typeface="Times New Roman" panose="02020603050405020304" charset="0"/>
                <a:cs typeface="Times New Roman" panose="02020603050405020304" charset="0"/>
              </a:rPr>
              <a:t>Data Preparation: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Cleaned and preprocessed the scraped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Created language-specific corpora for training.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800" b="1" dirty="0">
                <a:latin typeface="Times New Roman" panose="02020603050405020304" charset="0"/>
                <a:cs typeface="Times New Roman" panose="02020603050405020304" charset="0"/>
              </a:rPr>
              <a:t>Model Training: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Used Helsinki NLP models for multilingual translation.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Trained and fine-tuned on formal multilingual data for all six languages.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800" b="1" dirty="0">
                <a:latin typeface="Times New Roman" panose="02020603050405020304" charset="0"/>
                <a:cs typeface="Times New Roman" panose="02020603050405020304" charset="0"/>
              </a:rPr>
              <a:t>Outcome: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Developed a baseline multilingual translation system capable of accurately translating formal text.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233" y="399967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PROGRESS 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4787900" y="-3035935"/>
          <a:ext cx="6565900" cy="23439120"/>
        </p:xfrm>
        <a:graphic>
          <a:graphicData uri="http://schemas.openxmlformats.org/drawingml/2006/table">
            <a:tbl>
              <a:tblPr/>
              <a:tblGrid>
                <a:gridCol w="328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93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en-US" sz="28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10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813" y="0"/>
            <a:ext cx="2050113" cy="1235941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70535" y="1414780"/>
            <a:ext cx="10883265" cy="531685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sz="2800" b="1" dirty="0">
                <a:latin typeface="Times New Roman" panose="02020603050405020304" charset="0"/>
                <a:cs typeface="Times New Roman" panose="02020603050405020304" charset="0"/>
              </a:rPr>
              <a:t>Collected datasets: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Code-Mixed, </a:t>
            </a:r>
            <a:r>
              <a:rPr lang="en-US" altLang="en-US" sz="2800" dirty="0" err="1">
                <a:latin typeface="Times New Roman" panose="02020603050405020304" charset="0"/>
                <a:cs typeface="Times New Roman" panose="02020603050405020304" charset="0"/>
              </a:rPr>
              <a:t>ComiLingua</a:t>
            </a: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, and Hinglish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Scraped additional data from multiple online sources for informal and formal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Merged and preprocessed datasets to create a comprehensive multilingual corpus.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800" b="1" dirty="0">
                <a:latin typeface="Times New Roman" panose="02020603050405020304" charset="0"/>
                <a:cs typeface="Times New Roman" panose="02020603050405020304" charset="0"/>
              </a:rPr>
              <a:t>Models used for training: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Facebook M2M-100 </a:t>
            </a:r>
            <a:r>
              <a:rPr lang="en-IN" altLang="en-US" sz="2800" dirty="0"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lang="en-US" altLang="en-US" sz="2800" dirty="0" err="1">
                <a:latin typeface="Times New Roman" panose="02020603050405020304" charset="0"/>
                <a:cs typeface="Times New Roman" panose="02020603050405020304" charset="0"/>
              </a:rPr>
              <a:t>facebook</a:t>
            </a: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/nllb-200-distilled-600Mfor multilingual translation.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 err="1">
                <a:latin typeface="Times New Roman" panose="02020603050405020304" charset="0"/>
                <a:cs typeface="Times New Roman" panose="02020603050405020304" charset="0"/>
              </a:rPr>
              <a:t>RudraHsha</a:t>
            </a: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 model for code-mixed translation tasks.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800" b="1" dirty="0">
                <a:latin typeface="Times New Roman" panose="02020603050405020304" charset="0"/>
                <a:cs typeface="Times New Roman" panose="02020603050405020304" charset="0"/>
              </a:rPr>
              <a:t>Current progress: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Successfully trained and fine-tuned models for Hindi translation.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44A2B-560B-1ECF-BB13-E9E3354D1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137" y="460512"/>
            <a:ext cx="6514011" cy="47783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CURRENT WORK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5CE3E-DF2A-ACFD-6931-7D7A69F82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11</a:t>
            </a:fld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F51A6DF-BF43-6BE5-73A8-83EB14F536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44137" y="1519599"/>
            <a:ext cx="112776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LingoSense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hybrid transliteration–translation system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code-mixed and informal Indian 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pipeline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Input Processing → Transliteration → Code-mix Detection → Normalization → Contextual Translation → Multilingual Output.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Transformer-based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IndicTrans2, NLLB-200, FLAN-T5.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transliteration and contextually coherent translations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six Indian languages: Hindi, Bengali, Marathi, Telugu, Malayalam, Tamil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interface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translation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interactive visualization 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input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Romanized/code-mixed 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select target languages, and view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native script, English, and multilingual translations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instantly.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comparisons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languages, enhancing accessibility and usability for end-users.</a:t>
            </a:r>
          </a:p>
        </p:txBody>
      </p:sp>
    </p:spTree>
    <p:extLst>
      <p:ext uri="{BB962C8B-B14F-4D97-AF65-F5344CB8AC3E}">
        <p14:creationId xmlns:p14="http://schemas.microsoft.com/office/powerpoint/2010/main" val="139154705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FUTURE SCOPE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12</a:t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813" y="0"/>
            <a:ext cx="2050113" cy="1235941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26868C11-475C-C773-C818-89DF2C335F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400" y="2295532"/>
            <a:ext cx="10961914" cy="3596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/>
              <a:t>Feature Expansion:</a:t>
            </a:r>
            <a:r>
              <a:rPr lang="en-IN" sz="2400" dirty="0"/>
              <a:t> Complete web interface and handle irregular transliterations.</a:t>
            </a:r>
          </a:p>
          <a:p>
            <a:r>
              <a:rPr lang="en-IN" sz="2400" b="1" dirty="0"/>
              <a:t>Performance Optimization:</a:t>
            </a:r>
            <a:r>
              <a:rPr lang="en-IN" sz="2400" dirty="0"/>
              <a:t> Fine-tune models to reduce semantic errors and enable faster inference with GPU acceleration.</a:t>
            </a:r>
          </a:p>
          <a:p>
            <a:r>
              <a:rPr lang="en-IN" sz="2400" b="1" dirty="0"/>
              <a:t>Extended Functionality:</a:t>
            </a:r>
            <a:r>
              <a:rPr lang="en-IN" sz="2400" dirty="0"/>
              <a:t> Incorporate regional language patterns and enhance context-aware translation using advanced data augmentation.</a:t>
            </a:r>
          </a:p>
          <a:p>
            <a:r>
              <a:rPr lang="en-IN" sz="2400" b="1" dirty="0"/>
              <a:t>User Experience:</a:t>
            </a:r>
            <a:r>
              <a:rPr lang="en-IN" sz="2400" dirty="0"/>
              <a:t> Improve interactive feedback, interface design, and side-by-side output visualization.</a:t>
            </a:r>
          </a:p>
          <a:p>
            <a:r>
              <a:rPr lang="en-IN" sz="2400" b="1" dirty="0"/>
              <a:t>Research Focus:</a:t>
            </a:r>
            <a:r>
              <a:rPr lang="en-IN" sz="2400" dirty="0"/>
              <a:t> Explore hybrid pipelines for new multilingual contexts and extend applications to social media, e-learning, and governance.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5464" y="1772812"/>
            <a:ext cx="9144000" cy="2387600"/>
          </a:xfrm>
        </p:spPr>
        <p:txBody>
          <a:bodyPr/>
          <a:lstStyle/>
          <a:p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Thank you !</a:t>
            </a:r>
            <a:endParaRPr lang="en-IN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6EB5-AB8D-4490-841F-9D4421CD4F4A}" type="slidenum">
              <a:rPr lang="en-IN" smtClean="0"/>
              <a:t>13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813" y="0"/>
            <a:ext cx="2050113" cy="123594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16*1263"/>
  <p:tag name="TABLE_ENDDRAG_RECT" val="377*342*516*126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indent="0">
          <a:buFont typeface="Arial" panose="020B0604020202020204" pitchFamily="34" charset="0"/>
          <a:buNone/>
          <a:defRPr lang="en-US" altLang="en-US" sz="2800" b="1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252</TotalTime>
  <Words>889</Words>
  <Application>Microsoft Office PowerPoint</Application>
  <PresentationFormat>Widescreen</PresentationFormat>
  <Paragraphs>115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Times New Roman</vt:lpstr>
      <vt:lpstr>Office Theme</vt:lpstr>
      <vt:lpstr>LingoSense </vt:lpstr>
      <vt:lpstr>INTRODUCTION :</vt:lpstr>
      <vt:lpstr>PROJECT OBJECTIVES:</vt:lpstr>
      <vt:lpstr>PROBLEM STATEMENT:</vt:lpstr>
      <vt:lpstr>NOVELTY :</vt:lpstr>
      <vt:lpstr>LITERATURE REVIEW / EXISTINGWORK </vt:lpstr>
      <vt:lpstr>PROPOSED METHODOLOGY </vt:lpstr>
      <vt:lpstr>TOOLS / TECHNOLOGIES USED: </vt:lpstr>
      <vt:lpstr>INITIAL STAGE : </vt:lpstr>
      <vt:lpstr>PROGRESS </vt:lpstr>
      <vt:lpstr>CURRENT WORK</vt:lpstr>
      <vt:lpstr>FUTURE SCOPE 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KEERTHANA RAJ</dc:creator>
  <cp:lastModifiedBy>AlakaAsritha Ghantasala</cp:lastModifiedBy>
  <cp:revision>11</cp:revision>
  <dcterms:created xsi:type="dcterms:W3CDTF">2025-08-16T05:31:00Z</dcterms:created>
  <dcterms:modified xsi:type="dcterms:W3CDTF">2025-11-06T16:55:35Z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BE0E722802F243B084DAE01EA775C92E_13</vt:lpwstr>
  </property>
  <property fmtid="{D5CDD505-2E9C-101B-9397-08002B2CF9AE}" pid="3" name="KSOProductBuildVer">
    <vt:lpwstr>1033-12.2.0.22549</vt:lpwstr>
  </property>
</Properties>
</file>